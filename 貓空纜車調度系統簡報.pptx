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5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0"/>
            <a:ext cx="3200400" cy="6858000"/>
          </a:xfrm>
          <a:prstGeom prst="rect">
            <a:avLst/>
          </a:prstGeom>
          <a:solidFill>
            <a:srgbClr val="0E8FAD">
              <a:alpha val="30000"/>
            </a:srgbClr>
          </a:solidFill>
          <a:ln w="12700">
            <a:solidFill>
              <a:srgbClr val="0E8FAD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0"/>
            <a:ext cx="1920240" cy="6858000"/>
          </a:xfrm>
          <a:prstGeom prst="rect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F5A623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74920"/>
            <a:ext cx="80467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貓空纜車調度系統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6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Maokong Gondola Dispatch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多人即時同步・拖曳排班・維修標記・班次快照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2578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maokong-dispatch.vercel.app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A9A"/>
                </a:solidFill>
              </a:rPr>
              <a:t>2026 © RIP Dev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5F73"/>
          </a:solidFill>
          <a:ln w="12700">
            <a:solidFill>
              <a:srgbClr val="0A5F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38560" y="0"/>
            <a:ext cx="82296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系統概覽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這套系統解決了什麼問題？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566928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64008" cy="5029200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258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貓空纜車調度系統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貓空纜車每日需精準掌控 151 台車廂的位置、狀態與排班。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過去倚靠紙本或人工表格，容易出錯、難以即時更新；多個控制員同時作業時，資訊更無法同步。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本系統以 Web App 取代傳統作法：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任何裝置開啟瀏覽器即可使用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多人同時操作，畫面即時同步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拖曳車廂即完成排班，操作直覺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維修狀態自動顯色，一目瞭然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班次快照一鍵儲存，隨時還原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143000"/>
            <a:ext cx="530352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143000"/>
            <a:ext cx="64008" cy="5029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371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F73"/>
                </a:solidFill>
              </a:rPr>
              <a:t>一眼看清全線車況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0" y="1874520"/>
            <a:ext cx="1645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0" y="1874520"/>
            <a:ext cx="64008" cy="1600200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207568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8FAD"/>
                </a:solidFill>
              </a:rPr>
              <a:t>151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693408" y="28620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572"/>
                </a:solidFill>
              </a:rPr>
              <a:t>台車廂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03920" y="1874520"/>
            <a:ext cx="1645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03920" y="1874520"/>
            <a:ext cx="64008" cy="1600200"/>
          </a:xfrm>
          <a:prstGeom prst="rect">
            <a:avLst/>
          </a:prstGeom>
          <a:solidFill>
            <a:srgbClr val="0A5F73"/>
          </a:solidFill>
          <a:ln w="12700">
            <a:solidFill>
              <a:srgbClr val="0A5F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13648" y="207568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5F73"/>
                </a:solidFill>
              </a:rPr>
              <a:t>108 / 130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613648" y="28620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572"/>
                </a:solidFill>
              </a:rPr>
              <a:t>正線模式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3749040"/>
            <a:ext cx="1645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0" y="3749040"/>
            <a:ext cx="64008" cy="1600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93408" y="395020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</a:rPr>
              <a:t>即時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693408" y="47365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572"/>
                </a:solidFill>
              </a:rPr>
              <a:t>多人同步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03920" y="3749040"/>
            <a:ext cx="1645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503920" y="3749040"/>
            <a:ext cx="64008" cy="1600200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13648" y="395020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8FAD"/>
                </a:solidFill>
              </a:rPr>
              <a:t>6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613648" y="47365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572"/>
                </a:solidFill>
              </a:rPr>
              <a:t>自定義區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5532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9AA6"/>
                </a:solidFill>
              </a:rPr>
              <a:t>線上網址：maokong-dispatch.vercel.app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5F73"/>
          </a:solidFill>
          <a:ln w="12700">
            <a:solidFill>
              <a:srgbClr val="0A5F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38560" y="0"/>
            <a:ext cx="82296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帳號、權限與系統架構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539496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64008" cy="5029200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5F73"/>
                </a:solidFill>
              </a:rPr>
              <a:t>👑  Admin（管理員）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0352" y="1920240"/>
            <a:ext cx="201168" cy="201168"/>
          </a:xfrm>
          <a:prstGeom prst="ellipse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8366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拖曳車廂、右鍵修改狀態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30352" y="2395728"/>
            <a:ext cx="201168" cy="201168"/>
          </a:xfrm>
          <a:prstGeom prst="ellipse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35915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切換 108 / 130 正線模式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0352" y="2871216"/>
            <a:ext cx="201168" cy="201168"/>
          </a:xfrm>
          <a:prstGeom prst="ellipse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8346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管理週排程、自定義區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30352" y="3346704"/>
            <a:ext cx="201168" cy="201168"/>
          </a:xfrm>
          <a:prstGeom prst="ellipse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31012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建立 / 還原班次快照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30352" y="3822192"/>
            <a:ext cx="201168" cy="201168"/>
          </a:xfrm>
          <a:prstGeom prst="ellipse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8561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執行車廂診斷與一鍵修復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30352" y="4297680"/>
            <a:ext cx="201168" cy="201168"/>
          </a:xfrm>
          <a:prstGeom prst="ellipse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26110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管理帳號（新增 / 刪除使用者）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30352" y="4773168"/>
            <a:ext cx="201168" cy="201168"/>
          </a:xfrm>
          <a:prstGeom prst="ellipse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73659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自訂狀態顏色配色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30352" y="5248656"/>
            <a:ext cx="201168" cy="201168"/>
          </a:xfrm>
          <a:prstGeom prst="ellipse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21208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截圖匯出、Excel 下載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43600" y="1143000"/>
            <a:ext cx="28346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0" y="1143000"/>
            <a:ext cx="64008" cy="2240280"/>
          </a:xfrm>
          <a:prstGeom prst="rect">
            <a:avLst/>
          </a:prstGeom>
          <a:solidFill>
            <a:srgbClr val="7C9AA6"/>
          </a:solidFill>
          <a:ln w="12700">
            <a:solidFill>
              <a:srgbClr val="7C9A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1325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6572"/>
                </a:solidFill>
              </a:rPr>
              <a:t>👁  Guest（訪客）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72200" y="17830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572"/>
                </a:solidFill>
              </a:rPr>
              <a:t>• 唯讀模式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6572"/>
                </a:solidFill>
              </a:rPr>
              <a:t>• 即時觀看調度全貌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6572"/>
                </a:solidFill>
              </a:rPr>
              <a:t>• 無法拖曳或修改任何資料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0" y="3611880"/>
            <a:ext cx="58978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0" y="3611880"/>
            <a:ext cx="64008" cy="2560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F73"/>
                </a:solidFill>
              </a:rPr>
              <a:t>技術架構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172200" y="43159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FAD"/>
                </a:solidFill>
              </a:rPr>
              <a:t>Next.js 16 + React 19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49640" y="43159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前端框架，Server Component 架構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72200" y="4754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FAD"/>
                </a:solidFill>
              </a:rPr>
              <a:t>Supabase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49640" y="47548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PostgreSQL 資料庫 + 即時訂閱（Realtime）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72200" y="51937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FAD"/>
                </a:solidFill>
              </a:rPr>
              <a:t>Tailwind CSS + shadcn/ui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49640" y="51937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現代化 UI 元件庫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72200" y="56327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FAD"/>
                </a:solidFill>
              </a:rPr>
              <a:t>dnd-kit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549640" y="563270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無障礙拖曳排班套件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72200" y="60716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FAD"/>
                </a:solidFill>
              </a:rPr>
              <a:t>Vercel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549640" y="60716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CDN 部署，全球節點加速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5F73"/>
          </a:solidFill>
          <a:ln w="12700">
            <a:solidFill>
              <a:srgbClr val="0A5F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38560" y="0"/>
            <a:ext cx="82296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車廂種類與狀態顯色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 151 台車廂，狀態顏色可在系統設定自訂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539496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64008" cy="5029200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258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F73"/>
                </a:solidFill>
              </a:rPr>
              <a:t>車廂種類（CarType）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594360" cy="347472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1872" y="19202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6"/>
                </a:solidFill>
              </a:rPr>
              <a:t>一般車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97480" y="1920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572"/>
                </a:solidFill>
              </a:rPr>
              <a:t>車號 1–147，標準纜車車廂（藍色）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70048"/>
            <a:ext cx="594360" cy="34747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1872" y="26700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6"/>
                </a:solidFill>
              </a:rPr>
              <a:t>水晶車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26700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572"/>
                </a:solidFill>
              </a:rPr>
              <a:t>透明車廂，熱門打卡款（黃色）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419856"/>
            <a:ext cx="594360" cy="347472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1872" y="34198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6"/>
                </a:solidFill>
              </a:rPr>
              <a:t>雙握車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97480" y="34198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572"/>
                </a:solidFill>
              </a:rPr>
              <a:t>特殊握把設計車廂（灰）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169664"/>
            <a:ext cx="594360" cy="347472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61872" y="41696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6"/>
                </a:solidFill>
              </a:rPr>
              <a:t>洞車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97480" y="41696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572"/>
                </a:solidFill>
              </a:rPr>
              <a:t>中央穿透設計車廂（灰）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919472"/>
            <a:ext cx="594360" cy="34747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61872" y="49194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6"/>
                </a:solidFill>
              </a:rPr>
              <a:t>維修車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97480" y="49194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572"/>
                </a:solidFill>
              </a:rPr>
              <a:t>M1、M2，專用維修作業車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0" y="1143000"/>
            <a:ext cx="589788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0" y="1143000"/>
            <a:ext cx="64008" cy="5029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13258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F73"/>
                </a:solidFill>
              </a:rPr>
              <a:t>運作狀態（CarStatus）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72200" y="1920240"/>
            <a:ext cx="594360" cy="320040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76288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6"/>
                </a:solidFill>
              </a:rPr>
              <a:t>可用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613648" y="1920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正常運行，顯示對應車型色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2578608"/>
            <a:ext cx="59436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76288" y="25786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6"/>
                </a:solidFill>
              </a:rPr>
              <a:t>不可用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613648" y="25786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暫停服務（紅色醒目標示）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3236976"/>
            <a:ext cx="594360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76288" y="32369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6"/>
                </a:solidFill>
              </a:rPr>
              <a:t>報廢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613648" y="323697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永久停用，封鎖所有移動操作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72200" y="3895344"/>
            <a:ext cx="594360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76288" y="38953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6"/>
                </a:solidFill>
              </a:rPr>
              <a:t>管控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613648" y="38953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特殊管制狀態（橘色）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72200" y="4553712"/>
            <a:ext cx="594360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76288" y="45537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6"/>
                </a:solidFill>
              </a:rPr>
              <a:t>有維修需求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613648" y="45537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維修排程標記自動驅動（紫色）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72200" y="5212080"/>
            <a:ext cx="594360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76288" y="5212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6"/>
                </a:solidFill>
              </a:rPr>
              <a:t>其他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613648" y="5212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</a:rPr>
              <a:t>彈性備用狀態（綠色）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172200" y="58064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9AA6"/>
                </a:solidFill>
              </a:rPr>
              <a:t>★ 維修排程登記的車廂，狀態自動覆蓋為「有維修需求」，無需手動更改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5F73"/>
          </a:solidFill>
          <a:ln w="12700">
            <a:solidFill>
              <a:srgbClr val="0A5F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38560" y="0"/>
            <a:ext cx="82296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正線迴圈操作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車 / 130 車 雙模式，環形排班核心區域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54864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64008" cy="2834640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258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F73"/>
                </a:solidFill>
              </a:rPr>
              <a:t>108 車 vs 130 車 模式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D"/>
                </a:solidFill>
              </a:rPr>
              <a:t>108 車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828800" y="1874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格子較大（41×33px），正常營運模式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3500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D"/>
                </a:solidFill>
              </a:rPr>
              <a:t>130 車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28800" y="23500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格子較小（34×28px），尖峰加班模式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8254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D"/>
                </a:solidFill>
              </a:rPr>
              <a:t>切換時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828800" y="28254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1–65 格不動，66–87 空出，後段車後移 22 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3009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D"/>
                </a:solidFill>
              </a:rPr>
              <a:t>130→108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828800" y="33009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壓縮後直接切換；若超 108 台，可選擇抽車或略過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160520"/>
            <a:ext cx="54864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4160520"/>
            <a:ext cx="64008" cy="1965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3159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F73"/>
                </a:solidFill>
              </a:rPr>
              <a:t>排列方向（逆時針）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75488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左欄（去程）↓　→　下排→　→　右欄（回程）↑　→　上排←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1937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6572"/>
                </a:solidFill>
              </a:rPr>
              <a:t>Slot 1 固定在左上角（緊鄰轉角二站）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89320" y="1143000"/>
            <a:ext cx="585216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1143000"/>
            <a:ext cx="64008" cy="5029200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3258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F73"/>
                </a:solidFill>
              </a:rPr>
              <a:t>操作方式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17920" y="1920240"/>
            <a:ext cx="64008" cy="347472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1920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D"/>
                </a:solidFill>
              </a:rPr>
              <a:t>拖曳排班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046720" y="19202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從儲車區直接拖曳車廂到正線格位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2487168"/>
            <a:ext cx="64008" cy="347472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24871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D"/>
                </a:solidFill>
              </a:rPr>
              <a:t>拖入已佔格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046720" y="24871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原車廂自動歸還轉角二站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3054096"/>
            <a:ext cx="64008" cy="347472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0540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D"/>
                </a:solidFill>
              </a:rPr>
              <a:t>拖入中央區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046720" y="30540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自動插入第一個空格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3621024"/>
            <a:ext cx="64008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362102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</a:rPr>
              <a:t>雙擊格子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046720" y="36210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直接輸入車號（Admin 限定）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0" y="4187952"/>
            <a:ext cx="64008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41879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</a:rPr>
              <a:t>清空車號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046720" y="41879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輸入空白後車廂移回轉角二站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17920" y="4754880"/>
            <a:ext cx="64008" cy="347472"/>
          </a:xfrm>
          <a:prstGeom prst="rect">
            <a:avLst/>
          </a:prstGeom>
          <a:solidFill>
            <a:srgbClr val="7C9AA6"/>
          </a:solidFill>
          <a:ln w="12700">
            <a:solidFill>
              <a:srgbClr val="7C9A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4754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9AA6"/>
                </a:solidFill>
              </a:rPr>
              <a:t>自適應縮放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046720" y="47548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小螢幕自動縮小，大螢幕自動放大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217920" y="5321808"/>
            <a:ext cx="64008" cy="347472"/>
          </a:xfrm>
          <a:prstGeom prst="rect">
            <a:avLst/>
          </a:prstGeom>
          <a:solidFill>
            <a:srgbClr val="7C9AA6"/>
          </a:solidFill>
          <a:ln w="12700">
            <a:solidFill>
              <a:srgbClr val="7C9AA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53218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9AA6"/>
                </a:solidFill>
              </a:rPr>
              <a:t>即時同步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8046720" y="53218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所有操作即時反映至其他使用者畫面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5F73"/>
          </a:solidFill>
          <a:ln w="12700">
            <a:solidFill>
              <a:srgbClr val="0A5F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38560" y="0"/>
            <a:ext cx="82296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搜尋、車廂備註與診斷工具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頂部工具列快速功能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75895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64008" cy="1965960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9844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F73"/>
                </a:solidFill>
              </a:rPr>
              <a:t>🔎  車號搜尋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764792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在頂列輸入框輸入車號，按 Enter 即查詢。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回傳資訊：所在區域、格位（正線顯示第幾格）、是否有維修需求 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搜尋命中後，車廂標籤套用紅色閃爍外框，直到清空搜尋框為止。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3291840"/>
            <a:ext cx="75895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3291840"/>
            <a:ext cx="64008" cy="1965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4728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F73"/>
                </a:solidFill>
              </a:rPr>
              <a:t>📋  車廂備註（N 按鈕）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頂列顯示橘色數字 N（= 有備註的車廂總數）。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點開後列出所有有備註車廂的 ID、位置與備註內容。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右鍵車廂 → 編輯備註，Ctrl+Enter 快速儲存；可從 Modal 一鍵刪除任一筆備註（Admin）。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143000"/>
            <a:ext cx="370332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143000"/>
            <a:ext cx="64008" cy="50292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3258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F73"/>
                </a:solidFill>
              </a:rPr>
              <a:t>🔍  車廂診斷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66760" y="1737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AA6"/>
                </a:solidFill>
              </a:rPr>
              <a:t>（Admin 限定）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66760" y="2176272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59368" y="213969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直接查詢 Supabase，不依賴本地畫面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66760" y="2798064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59368" y="27614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掃描所有車廂位置一致性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66760" y="3419856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59368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找出孤兒格位（幽靈車廂）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66760" y="4041648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5936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一鍵批次修復：異常車廂移回轉角二站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366760" y="4663440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59368" y="462686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清除所有幽靈格位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5F73"/>
          </a:solidFill>
          <a:ln w="12700">
            <a:solidFill>
              <a:srgbClr val="0A5F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38560" y="0"/>
            <a:ext cx="82296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儲車區管理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左側欄三個區域，可收折以釋放正線空間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53949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64008" cy="2331720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9844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F73"/>
                </a:solidFill>
              </a:rPr>
              <a:t>🚉  轉角二站儲車區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755648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• 容量：40 台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• 格子尺寸：34×28px（統一規格）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• 收折後仍可接受拖放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• 右鍵選單：變更狀態、編輯備註、報廢車移除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365760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3657600"/>
            <a:ext cx="64008" cy="1691640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1304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F73"/>
                </a:solidFill>
              </a:rPr>
              <a:t>🏔  貓空站儲車區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2519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• 容量：10 台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• 位於轉角二站正下方，同樣可收折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• 維修車活動日：多行 textarea，600ms 自動存檔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5486400"/>
            <a:ext cx="5394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5486400"/>
            <a:ext cx="64008" cy="1143000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6418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572"/>
                </a:solidFill>
              </a:rPr>
              <a:t>⛔  停用車廂區（報廢車）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0533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572"/>
                </a:solidFill>
              </a:rPr>
              <a:t>報廢車廂集中顯示，所有移動操作封鎖，須先改變狀態才能恢復使用。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1143000"/>
            <a:ext cx="589788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0" y="1143000"/>
            <a:ext cx="64008" cy="5029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3258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F73"/>
                </a:solidFill>
              </a:rPr>
              <a:t>左側欄操作說明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72200" y="1920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D"/>
                </a:solidFill>
              </a:rPr>
              <a:t>收折左側欄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909560" y="1920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點 ◀ 按鈕，騰出更多正線顯示空間；點 ▶ 展開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25420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D"/>
                </a:solidFill>
              </a:rPr>
              <a:t>右鍵選單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909560" y="25420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任意車廂上按右鍵開啟操作選單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31638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D"/>
                </a:solidFill>
              </a:rPr>
              <a:t>狀態切換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909560" y="31638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可用 / 不可用 / 管控 / 其他 / 報廢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37856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D"/>
                </a:solidFill>
              </a:rPr>
              <a:t>報廢車廂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909560" y="37856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狀態改為報廢後，自動從原區域清除格位，移入停用區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44074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D"/>
                </a:solidFill>
              </a:rPr>
              <a:t>編輯備註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909560" y="44074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右鍵 → 編輯備註，支援多行文字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72200" y="5029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D"/>
                </a:solidFill>
              </a:rPr>
              <a:t>Ctrl+Enter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909560" y="5029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備註對話框中快速儲存快捷鍵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5F73"/>
          </a:solidFill>
          <a:ln w="12700">
            <a:solidFill>
              <a:srgbClr val="0A5F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38560" y="0"/>
            <a:ext cx="82296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週排程與自定義區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中央面板右欄，規劃未來班表與臨時停放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548640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64008" cy="5029200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0759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F73"/>
                </a:solidFill>
              </a:rPr>
              <a:t>📅  週排程區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FAD"/>
                </a:solidFill>
              </a:rPr>
              <a:t>範圍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3736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週一至週五，各 14 格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24505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FAD"/>
                </a:solidFill>
              </a:rPr>
              <a:t>操作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37360" y="24505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拖入車廂或點 + 輸入車號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29809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FAD"/>
                </a:solidFill>
              </a:rPr>
              <a:t>防重複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37360" y="29809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同車拖至同週其他格，原格自動清除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35112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FAD"/>
                </a:solidFill>
              </a:rPr>
              <a:t>功能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37360" y="35112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預排未來班次，可搭配維修排程使用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0416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FAD"/>
                </a:solidFill>
              </a:rPr>
              <a:t>角色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40416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Admin 可編輯，Guest 唯讀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0" y="1143000"/>
            <a:ext cx="589788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1143000"/>
            <a:ext cx="64008" cy="5029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30759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F73"/>
                </a:solidFill>
              </a:rPr>
              <a:t>📦  自定義區（原測試區）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72200" y="1920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數量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5236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預設 6 個，可設定 0–8 個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172200" y="24505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容量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52360" y="2450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每區 9 格（3×3 排列）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172200" y="29809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名稱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52360" y="29809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可自訂，雙擊修改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172200" y="351129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操作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52360" y="35112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拖入、點 + 輸入、雙擊修改，右鍵一鍵移回轉角二站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172200" y="40416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備註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52360" y="4041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每區有獨立備註欄，支援多行換行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172200" y="4572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維修排程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452360" y="4572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可作為臨時置車或等待維修的暫停區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5F73"/>
          </a:solidFill>
          <a:ln w="12700">
            <a:solidFill>
              <a:srgbClr val="0A5F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38560" y="0"/>
            <a:ext cx="82296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維修排程 A / B / 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三個維修單元，車號登錄後全系統自動顯紫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365760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64008" cy="50292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075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F73"/>
                </a:solidFill>
              </a:rPr>
              <a:t>維修排程 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AA6"/>
                </a:solidFill>
              </a:rPr>
              <a:t>換列 5 台／排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182880" cy="182880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579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6"/>
                </a:solidFill>
              </a:rPr>
              <a:t>名稱可自訂（點 ✏ 修改）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70048"/>
            <a:ext cx="182880" cy="182880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6334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6"/>
                </a:solidFill>
              </a:rPr>
              <a:t>登錄車號後即時生效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145536"/>
            <a:ext cx="182880" cy="182880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1089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6"/>
                </a:solidFill>
              </a:rPr>
              <a:t>車廂狀態自動顯示紫色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621024"/>
            <a:ext cx="182880" cy="182880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5844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6"/>
                </a:solidFill>
              </a:rPr>
              <a:t>無需手動改狀態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096512"/>
            <a:ext cx="182880" cy="182880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05993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6"/>
                </a:solidFill>
              </a:rPr>
              <a:t>× 一鍵刪除登錄車廂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182880" cy="182880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53542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6"/>
                </a:solidFill>
              </a:rPr>
              <a:t>車號自動排序（數字小到大）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047488"/>
            <a:ext cx="182880" cy="182880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0109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6"/>
                </a:solidFill>
              </a:rPr>
              <a:t>空心紫色虛線框顯示（v1.21）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51960" y="1143000"/>
            <a:ext cx="365760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51960" y="1143000"/>
            <a:ext cx="64008" cy="502920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13075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F73"/>
                </a:solidFill>
              </a:rPr>
              <a:t>維修排程 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8056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AA6"/>
                </a:solidFill>
              </a:rPr>
              <a:t>換列 4 台／排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80560" y="2194560"/>
            <a:ext cx="182880" cy="182880"/>
          </a:xfrm>
          <a:prstGeom prst="ellipse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1579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6"/>
                </a:solidFill>
              </a:rPr>
              <a:t>名稱可自訂（點 ✏ 修改）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80560" y="2670048"/>
            <a:ext cx="182880" cy="182880"/>
          </a:xfrm>
          <a:prstGeom prst="ellipse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6334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6"/>
                </a:solidFill>
              </a:rPr>
              <a:t>登錄車號後即時生效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480560" y="3145536"/>
            <a:ext cx="182880" cy="182880"/>
          </a:xfrm>
          <a:prstGeom prst="ellipse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1089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6"/>
                </a:solidFill>
              </a:rPr>
              <a:t>車廂狀態自動顯示紫色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480560" y="3621024"/>
            <a:ext cx="182880" cy="182880"/>
          </a:xfrm>
          <a:prstGeom prst="ellipse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5844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6"/>
                </a:solidFill>
              </a:rPr>
              <a:t>無需手動改狀態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480560" y="4096512"/>
            <a:ext cx="182880" cy="182880"/>
          </a:xfrm>
          <a:prstGeom prst="ellipse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405993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6"/>
                </a:solidFill>
              </a:rPr>
              <a:t>× 一鍵刪除登錄車廂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480560" y="4572000"/>
            <a:ext cx="182880" cy="182880"/>
          </a:xfrm>
          <a:prstGeom prst="ellipse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453542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6"/>
                </a:solidFill>
              </a:rPr>
              <a:t>車號自動排序（數字小到大）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480560" y="5047488"/>
            <a:ext cx="182880" cy="182880"/>
          </a:xfrm>
          <a:prstGeom prst="ellipse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50109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6"/>
                </a:solidFill>
              </a:rPr>
              <a:t>空心紫色虛線框顯示（v1.21）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183880" y="1143000"/>
            <a:ext cx="365760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183880" y="1143000"/>
            <a:ext cx="64008" cy="502920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0" y="13075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F73"/>
                </a:solidFill>
              </a:rPr>
              <a:t>維修排程 C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41248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AA6"/>
                </a:solidFill>
              </a:rPr>
              <a:t>換列 3 台／排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412480" y="2194560"/>
            <a:ext cx="182880" cy="182880"/>
          </a:xfrm>
          <a:prstGeom prst="ellipse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86800" y="21579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6"/>
                </a:solidFill>
              </a:rPr>
              <a:t>名稱可自訂（點 ✏ 修改）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412480" y="2670048"/>
            <a:ext cx="182880" cy="182880"/>
          </a:xfrm>
          <a:prstGeom prst="ellipse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86800" y="26334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6"/>
                </a:solidFill>
              </a:rPr>
              <a:t>登錄車號後即時生效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412480" y="3145536"/>
            <a:ext cx="182880" cy="182880"/>
          </a:xfrm>
          <a:prstGeom prst="ellipse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86800" y="31089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6"/>
                </a:solidFill>
              </a:rPr>
              <a:t>車廂狀態自動顯示紫色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8412480" y="3621024"/>
            <a:ext cx="182880" cy="182880"/>
          </a:xfrm>
          <a:prstGeom prst="ellipse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86800" y="35844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6"/>
                </a:solidFill>
              </a:rPr>
              <a:t>無需手動改狀態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412480" y="4096512"/>
            <a:ext cx="182880" cy="182880"/>
          </a:xfrm>
          <a:prstGeom prst="ellipse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86800" y="405993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6"/>
                </a:solidFill>
              </a:rPr>
              <a:t>× 一鍵刪除登錄車廂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8412480" y="4572000"/>
            <a:ext cx="182880" cy="182880"/>
          </a:xfrm>
          <a:prstGeom prst="ellipse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86800" y="453542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6"/>
                </a:solidFill>
              </a:rPr>
              <a:t>車號自動排序（數字小到大）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8412480" y="5047488"/>
            <a:ext cx="182880" cy="182880"/>
          </a:xfrm>
          <a:prstGeom prst="ellipse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86800" y="50109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6"/>
                </a:solidFill>
              </a:rPr>
              <a:t>空心紫色虛線框顯示（v1.21）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320040" y="6309360"/>
            <a:ext cx="11521440" cy="411480"/>
          </a:xfrm>
          <a:prstGeom prst="rect">
            <a:avLst/>
          </a:prstGeom>
          <a:solidFill>
            <a:srgbClr val="D6EFF5"/>
          </a:solidFill>
          <a:ln w="12700">
            <a:solidFill>
              <a:srgbClr val="B0D9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631850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F73"/>
                </a:solidFill>
              </a:rPr>
              <a:t>維修排程與車廂狀態是「覆蓋」關係：維修排程登記中的車廂，無論原始狀態為何，一律顯示紫色「有維修需求」，移除登記後自動恢復原狀態。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5F73"/>
          </a:solidFill>
          <a:ln w="12700">
            <a:solidFill>
              <a:srgbClr val="0A5F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38560" y="0"/>
            <a:ext cx="82296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佈告欄與班次快照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交接資訊即時共享，班次狀態一鍵封存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539496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64008" cy="5029200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075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F73"/>
                </a:solidFill>
              </a:rPr>
              <a:t>📌  佈告欄（班次交接）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D"/>
                </a:solidFill>
              </a:rPr>
              <a:t>標題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55448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可自訂（點 ✏ 修改，預設「佈告欄」）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450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D"/>
                </a:solidFill>
              </a:rPr>
              <a:t>內容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554480" y="24505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多行 textarea，打字 600ms 後自動存檔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9809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D"/>
                </a:solidFill>
              </a:rPr>
              <a:t>同步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554480" y="29809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Realtime 即時同步，多人同開時立即反映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51129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D"/>
                </a:solidFill>
              </a:rPr>
              <a:t>字級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554480" y="35112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10–22px 可調，存入 localStorage（每台電腦獨立）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0416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D"/>
                </a:solidFill>
              </a:rPr>
              <a:t>高度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554480" y="40416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可拖拉調整（最小 120px）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572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D"/>
                </a:solidFill>
              </a:rPr>
              <a:t>權限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554480" y="4572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Admin 可編輯，Guest 唯讀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1023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D"/>
                </a:solidFill>
              </a:rPr>
              <a:t>快照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554480" y="51023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不納入班次快照（需人工維護）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0" y="1143000"/>
            <a:ext cx="589788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0" y="1143000"/>
            <a:ext cx="64008" cy="5029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130759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F73"/>
                </a:solidFill>
              </a:rPr>
              <a:t>💾  班次快照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172200" y="17190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AA6"/>
                </a:solidFill>
              </a:rPr>
              <a:t>（Admin 限定）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2103120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2066544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輸入班次說明，一鍵記錄當下完整狀態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2542032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2505456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儲存內容：正線排列、車廂狀態（含備註）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72200" y="2980944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2944368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自定義區（含備註）、維修排程、週排程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72200" y="3419856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3383280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班次記錄（📂）右側滑出，顯示最近 30 筆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72200" y="3858768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3822192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依台北日期分組，最新在上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72200" y="4297680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4261104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每筆顯示：說明、時間、操作者、模式、台數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72200" y="4736592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4700016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展開可預覽：轉角二站/貓空站台數、維修人數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72200" y="5175504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5138928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還原時需輸入登入密碼驗證身份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72200" y="5614416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46520" y="5577840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還原後自動重新載入，佈告欄不還原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5F73"/>
          </a:solidFill>
          <a:ln w="12700">
            <a:solidFill>
              <a:srgbClr val="0A5F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38560" y="0"/>
            <a:ext cx="82296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資料匯出功能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截圖留存 &amp; Excel 報表，v1.12 新增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548640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64008" cy="5029200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0759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F73"/>
                </a:solidFill>
              </a:rPr>
              <a:t>📷  截圖匯出（PNG）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51206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點擊頂列 📷 按鈕，自動擷取整個調度畫面。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A2B36"/>
                </a:solidFill>
              </a:rPr>
              <a:t>範圍涵蓋：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• 左側欄（轉角二站、貓空站、停用區）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• 正線迴圈全貌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• 中央面板（週排程、自定義區、維修排程、佈告欄）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輸出規格：2× 高解析度 .png 檔，可直接印出或傳送。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0" y="1143000"/>
            <a:ext cx="589788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0" y="1143000"/>
            <a:ext cx="64008" cy="5029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30759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F73"/>
                </a:solidFill>
              </a:rPr>
              <a:t>📊  Excel 報表（.xlsx）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72200" y="17647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檔名自動帶台北時間時間戳，共 5 個工作表：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2240280"/>
            <a:ext cx="5486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2240280"/>
            <a:ext cx="64008" cy="658368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2331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AA6"/>
                </a:solidFill>
              </a:rPr>
              <a:t>工作表 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D"/>
                </a:solidFill>
              </a:rPr>
              <a:t>正線排列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7824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6"/>
                </a:solidFill>
              </a:rPr>
              <a:t>依序列出 108 / 130 格位車號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2990088"/>
            <a:ext cx="5486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2990088"/>
            <a:ext cx="64008" cy="658368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7648" y="30815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AA6"/>
                </a:solidFill>
              </a:rPr>
              <a:t>工作表 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30815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D"/>
                </a:solidFill>
              </a:rPr>
              <a:t>車廂狀態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778240" y="3081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6"/>
                </a:solidFill>
              </a:rPr>
              <a:t>全 151 台車廂 ID、類型、狀態、位置、備註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3739896"/>
            <a:ext cx="5486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3739896"/>
            <a:ext cx="64008" cy="658368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38313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AA6"/>
                </a:solidFill>
              </a:rPr>
              <a:t>工作表 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38313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D"/>
                </a:solidFill>
              </a:rPr>
              <a:t>自定義區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778240" y="38313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6"/>
                </a:solidFill>
              </a:rPr>
              <a:t>各區名稱、格位車號、備註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4489704"/>
            <a:ext cx="5486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4489704"/>
            <a:ext cx="64008" cy="658368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27648" y="45811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AA6"/>
                </a:solidFill>
              </a:rPr>
              <a:t>工作表 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0" y="45811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D"/>
                </a:solidFill>
              </a:rPr>
              <a:t>維修排程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778240" y="45811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6"/>
                </a:solidFill>
              </a:rPr>
              <a:t>A / B / C 三單元登錄車廂清單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5239512"/>
            <a:ext cx="5486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5239512"/>
            <a:ext cx="64008" cy="658368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7648" y="5330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AA6"/>
                </a:solidFill>
              </a:rPr>
              <a:t>工作表 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0" y="5330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D"/>
                </a:solidFill>
              </a:rPr>
              <a:t>週排程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778240" y="53309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6"/>
                </a:solidFill>
              </a:rPr>
              <a:t>週一至週五各格位車號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5F73"/>
          </a:solidFill>
          <a:ln w="12700">
            <a:solidFill>
              <a:srgbClr val="0A5F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38560" y="0"/>
            <a:ext cx="82296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系統設定（Admin 限定）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顏色、帳號、自定義區數量一站管理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115214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64008" cy="1143000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075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FAD"/>
                </a:solidFill>
              </a:rPr>
              <a:t>狀態顏色自訂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0" y="1307592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9 種車廂狀態各自設定顏色，所有使用者即時生效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606040"/>
            <a:ext cx="115214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606040"/>
            <a:ext cx="64008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706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帳號管理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40480" y="2770632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新增 / 刪除使用者，設定 admin 或 guest 角色，顯示目前在線 email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4069080"/>
            <a:ext cx="115214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4069080"/>
            <a:ext cx="64008" cy="11430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336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1FA2"/>
                </a:solidFill>
              </a:rPr>
              <a:t>自定義區數量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840480" y="4233672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點數字 0–8 控制顯示幾個自定義區，預設 6 個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5257800"/>
            <a:ext cx="115214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5257800"/>
            <a:ext cx="64008" cy="1143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4223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顏色配置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840480" y="5422392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6"/>
                </a:solidFill>
              </a:rPr>
              <a:t>顏色存入 Supabase，更改後全平台同步，不需每台電腦個別設定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5F73"/>
          </a:solidFill>
          <a:ln w="12700">
            <a:solidFill>
              <a:srgbClr val="0A5F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38560" y="0"/>
            <a:ext cx="82296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開發工具介紹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現代 Full-Stack 技術棧，穩定、可擴充、成本可控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56235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64008" cy="1691640"/>
          </a:xfrm>
          <a:prstGeom prst="rect">
            <a:avLst/>
          </a:prstGeom>
          <a:solidFill>
            <a:srgbClr val="0A5F73"/>
          </a:solidFill>
          <a:ln w="12700">
            <a:solidFill>
              <a:srgbClr val="0A5F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80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F73"/>
                </a:solidFill>
              </a:rPr>
              <a:t>Next.js 16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94760" y="13075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C9AA6"/>
                </a:solidFill>
              </a:rPr>
              <a:t>前端框架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709928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6"/>
                </a:solidFill>
              </a:rPr>
              <a:t>React Server Component 架構，SEO 友善；App Router 提供直覺的路由結構，支援伺服器端驗證與即時資料流。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143000"/>
            <a:ext cx="56235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143000"/>
            <a:ext cx="64008" cy="1691640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280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FAD"/>
                </a:solidFill>
              </a:rPr>
              <a:t>Supabase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738360" y="13075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C9AA6"/>
                </a:solidFill>
              </a:rPr>
              <a:t>後端 / 資料庫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1709928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6"/>
                </a:solidFill>
              </a:rPr>
              <a:t>基於 PostgreSQL，內建 Auth（帳號系統）、Realtime（WebSocket 即時同步）、Row Level Security（RLS 細粒度權限控管），開源且可自行部署。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56235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63240"/>
            <a:ext cx="64008" cy="1691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00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Vercel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94760" y="32278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C9AA6"/>
                </a:solidFill>
              </a:rPr>
              <a:t>部署平台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630168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6"/>
                </a:solidFill>
              </a:rPr>
              <a:t>與 Next.js 原生整合，Git Push 自動部署；全球 CDN 節點分發，台灣存取速度極快；Hobby 方案每月免費（非商業用途）。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3063240"/>
            <a:ext cx="56235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3063240"/>
            <a:ext cx="64008" cy="16916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200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1FA2"/>
                </a:solidFill>
              </a:rPr>
              <a:t>dnd-kit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38360" y="32278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C9AA6"/>
                </a:solidFill>
              </a:rPr>
              <a:t>拖曳排班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3630168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6"/>
                </a:solidFill>
              </a:rPr>
              <a:t>輕量、無障礙（ARIA 相容）拖曳套件；支援觸控裝置，格位碰撞偵測精準，多區域跨容器拖曳。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040" y="4983480"/>
            <a:ext cx="56235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983480"/>
            <a:ext cx="64008" cy="1691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1206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Tailwind CSS + shadcn/ui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794760" y="5148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C9AA6"/>
                </a:solidFill>
              </a:rPr>
              <a:t>UI 框架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550408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6"/>
                </a:solidFill>
              </a:rPr>
              <a:t>原子化 CSS 快速排版；shadcn/ui 提供高品質、可複製的 Radix UI 元件，無多餘依賴，易於自訂。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63640" y="4983480"/>
            <a:ext cx="56235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63640" y="4983480"/>
            <a:ext cx="64008" cy="1691640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51206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8909C"/>
                </a:solidFill>
              </a:rPr>
              <a:t>TypeScript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738360" y="5148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C9AA6"/>
                </a:solidFill>
              </a:rPr>
              <a:t>語言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0" y="5550408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6"/>
                </a:solidFill>
              </a:rPr>
              <a:t>全程強型別，減少執行期 Bug；IDE 自動補全提升開發效率，後續接手維護者也能快速讀懂資料結構。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5F73"/>
          </a:solidFill>
          <a:ln w="12700">
            <a:solidFill>
              <a:srgbClr val="0A5F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38560" y="0"/>
            <a:ext cx="82296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開發成本與後續維護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透明揭露，協助評估預算與決策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53949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64008" cy="2926080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075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F73"/>
                </a:solidFill>
              </a:rPr>
              <a:t>目前運行費用（現況）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6"/>
                </a:solidFill>
              </a:rPr>
              <a:t>Supabase 免費方案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0" y="1920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A6572"/>
                </a:solidFill>
              </a:rPr>
              <a:t>$0 USD/月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4505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6"/>
                </a:solidFill>
              </a:rPr>
              <a:t>Vercel Hobby 方案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24505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A6572"/>
                </a:solidFill>
              </a:rPr>
              <a:t>$0 USD/月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98094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6"/>
                </a:solidFill>
              </a:rPr>
              <a:t>網域（vercel.app）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298094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A6572"/>
                </a:solidFill>
              </a:rPr>
              <a:t>$0 USD/月（子域免費）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5112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F73"/>
                </a:solidFill>
              </a:rPr>
              <a:t>目前合計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0" y="35112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8FAD"/>
                </a:solidFill>
              </a:rPr>
              <a:t>$0 / 月（完全免費）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9AA6"/>
                </a:solidFill>
              </a:rPr>
              <a:t>* 免費方案限非商業用途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4251960"/>
            <a:ext cx="5394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4251960"/>
            <a:ext cx="64008" cy="1920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4165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F73"/>
                </a:solidFill>
              </a:rPr>
              <a:t>升級方案費用（商業部署）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49560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Supabase Pro（避免自動休眠）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49560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A623"/>
                </a:solidFill>
              </a:rPr>
              <a:t>~$25 USD/月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3400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Vercel Pro（商業用途授權）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0" y="53400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A623"/>
                </a:solidFill>
              </a:rPr>
              <a:t>~$20 USD/月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7241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F73"/>
                </a:solidFill>
              </a:rPr>
              <a:t>升級後合計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0" y="57241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~$45 USD/月（約 NT$1,450）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0" y="1143000"/>
            <a:ext cx="589788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0" y="1143000"/>
            <a:ext cx="64008" cy="5029200"/>
          </a:xfrm>
          <a:prstGeom prst="rect">
            <a:avLst/>
          </a:prstGeom>
          <a:solidFill>
            <a:srgbClr val="0A5F73"/>
          </a:solidFill>
          <a:ln w="12700">
            <a:solidFill>
              <a:srgbClr val="0A5F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130759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後續維護說明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17220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日常維護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72200" y="22585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DE5"/>
                </a:solidFill>
              </a:rPr>
              <a:t>近乎零維護。Vercel 自動部署，Supabase 自動備份，無需人工介入。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172200" y="27249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內容更新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72200" y="3063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DE5"/>
                </a:solidFill>
              </a:rPr>
              <a:t>車廂資料若有異動（如新增車廂），可透過系統後台或 Supabase 介面手動更新，無需改程式碼。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172200" y="352958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功能擴充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72200" y="38679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DE5"/>
                </a:solidFill>
              </a:rPr>
              <a:t>需具備基本 Next.js / TypeScript 知識；程式碼結構清晰，有完整 CLAUDE.md 與使用說明可參考。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172200" y="433425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問題排查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172200" y="467258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DE5"/>
                </a:solidFill>
              </a:rPr>
              <a:t>內建「🔍 診斷」工具可自動掃描並修復大多數資料異常，無需工程師介入。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172200" y="51389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轉交接手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72200" y="547725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DE5"/>
                </a:solidFill>
              </a:rPr>
              <a:t>採標準 Web 技術，任何具備 Next.js 基礎的工程師皆可接手；詳見系統轉交說明頁。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5F73"/>
          </a:solidFill>
          <a:ln w="12700">
            <a:solidFill>
              <a:srgbClr val="0A5F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38560" y="0"/>
            <a:ext cx="82296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系統轉交說明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採「交程式碼，接收方重建基礎設施」方式，雙方各自持有獨立帳號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562356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64008" cy="2423160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0" cy="502920"/>
          </a:xfrm>
          <a:prstGeom prst="ellipse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075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712" y="13258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FAD"/>
                </a:solidFill>
              </a:rPr>
              <a:t>建立 Supabase 專案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164592" cy="164592"/>
          </a:xfrm>
          <a:prstGeom prst="ellipse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192938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申請 Supabase 帳號，新建 Project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441448"/>
            <a:ext cx="164592" cy="164592"/>
          </a:xfrm>
          <a:prstGeom prst="ellipse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4048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依序執行：schema.sql → seed.sql → 追加 SQL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916936"/>
            <a:ext cx="164592" cy="164592"/>
          </a:xfrm>
          <a:prstGeom prst="ellipse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28803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記下 SUPABASE_URL 與 ANON_KEY / SERVICE_ROLE_KEY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1143000"/>
            <a:ext cx="562356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143000"/>
            <a:ext cx="64008" cy="24231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128016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3075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68312" y="13258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部署至 Vercel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92240" y="1965960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39128" y="192938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申請 Vercel 帳號，匯入程式碼（GitHub 或直接上傳）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2441448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39128" y="24048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填入三組環境變數（來自 Step 1）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92240" y="2916936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39128" y="28803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觸發重新部署，確認網頁可正常開啟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3886200"/>
            <a:ext cx="562356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886200"/>
            <a:ext cx="64008" cy="242316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023360"/>
            <a:ext cx="502920" cy="502920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0507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24712" y="40690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1FA2"/>
                </a:solidFill>
              </a:rPr>
              <a:t>建立管理帳號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" y="4709160"/>
            <a:ext cx="164592" cy="164592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" y="467258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登入後進入系統設定（⚙）→ 帳號管理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184648"/>
            <a:ext cx="164592" cy="164592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" y="51480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新增貴單位的 admin 帳號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5660136"/>
            <a:ext cx="164592" cy="164592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528" y="56235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確認新帳號可登入後，刪除測試帳號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63640" y="3886200"/>
            <a:ext cx="562356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63640" y="3886200"/>
            <a:ext cx="64008" cy="24231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46520" y="402336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40507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068312" y="40690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確認資料完整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492240" y="4709160"/>
            <a:ext cx="164592" cy="16459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39128" y="467258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至「🔍 診斷」確認 151 台車廂全數出現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492240" y="5184648"/>
            <a:ext cx="164592" cy="16459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39128" y="51480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執行搜尋、拖曳、班次快照測試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492240" y="5660136"/>
            <a:ext cx="164592" cy="16459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39128" y="56235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6"/>
                </a:solidFill>
              </a:rPr>
              <a:t>確認功能正常即完成接收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20040" y="6473952"/>
            <a:ext cx="11521440" cy="320040"/>
          </a:xfrm>
          <a:prstGeom prst="rect">
            <a:avLst/>
          </a:prstGeom>
          <a:solidFill>
            <a:srgbClr val="D6EFF5"/>
          </a:solidFill>
          <a:ln w="12700">
            <a:solidFill>
              <a:srgbClr val="B0D9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F73"/>
                </a:solidFill>
              </a:rPr>
              <a:t>移交完成後：原開發者刪除原 Supabase Project、原 Vercel Project，不需交付任何帳號密碼或金鑰。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貓空纜車調度系統</dc:title>
  <dc:subject>PptxGenJS Presentation</dc:subject>
  <dc:creator>RIP</dc:creator>
  <cp:lastModifiedBy>RIP</cp:lastModifiedBy>
  <cp:revision>1</cp:revision>
  <dcterms:created xsi:type="dcterms:W3CDTF">2026-05-31T12:52:29Z</dcterms:created>
  <dcterms:modified xsi:type="dcterms:W3CDTF">2026-05-31T12:52:29Z</dcterms:modified>
</cp:coreProperties>
</file>